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screen as people arrive. Everyone here completed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builds today. Every one ends with a person checking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last bullet now and again at 3:45. Triggers left on keep running and keep costing.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Escalate anyone who can't, now. Rhodeen keeps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2 stopped at rung 3. Today is rungs 4 and 5. Each rung up needs more design, testing,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who built an agent after Day 2? What happened when someone else used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ideas come back in every block. The 3:00 block is built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TIYA's licensing and environment before the day. See the facilitator guide's readiness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to 10 minutes. Note the tenant's exact labels during prep; the interface changes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activity map after the first test question. That's the habit for the whole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only the tools the job needs. That's a lock, not a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min. Build 4 connects to this agent, so everyone must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Copilot Studio, the trigger sends a payload to the agent as a message. The agent follows its instructions plus the payload's.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Microsoft's guidance: with more than one trigger, put the event-specific steps in each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idea of the day. The red-team block at 3:00 tests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missing tool. The agent can't reply to the requester because we didn't give it a way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min. Rhodeen watches for triggers that never fire: usually the subject filter or the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one has a design answer. The duplicate one has no AI answer: a person, or a lookup in the work order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scheduled prompt for 2 minutes if TIYA's tenant has it; note who sees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2's B-410 trap is the reason. A model reading rows can miscount.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run history after the first run. Then show where to turn the trigger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question sets up monitoring at 3:00.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Microsoft's guidance: start with one agent. Split when tool choice degrades, or ownership and reuse demand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activity map after each test to show which agent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min. Most routing failures are vague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Credentials: confirm during prep how TIYA's triggers authenticate. The point stands either way: whose access does the agent use?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triggered agent never starts below tier 2: it runs when no one is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E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48640"/>
            <a:ext cx="2822975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0392" y="169164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148840"/>
            <a:ext cx="1049091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430"/>
              </a:spcAft>
            </a:pPr>
            <a:r>
              <a:rPr sz="5400" b="1">
                <a:solidFill>
                  <a:srgbClr val="FFFFFF"/>
                </a:solidFill>
                <a:latin typeface="Roboto Slab"/>
              </a:rPr>
              <a:t>Advanced Agents with Copilot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4572000"/>
            <a:ext cx="1049091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Triggered, scheduled, and multi-agent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[Date TBD] · Alex Djalali · Alex Rhodeen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8:00 Login check and Day 2 in review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8:30 From agent builder to Copilot Studio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10:00 Event-triggered agents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12:30 Scheduled agents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1:30 Multi-agent orchestration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3:00 Operating autonomous agents · 3:45 Closing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Breaks at 9:45, 11:45 (lunch), and 2:45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Every build is in the Day 3 workbook, copy-ready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Remote: chat is watched all day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Turn your triggers off before you leave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996696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Login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Open Copilot Studio and find your training environment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Create a blank agent; delete it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Open Outlook and Teams in other tabs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8:10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Day 2 in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autonomy ladder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1 ·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You ask; it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3438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3438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2 · Saved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3438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You reuse what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6484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6484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3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6484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Instructions, knowledge,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09530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9530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4 · Triggered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9530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Starts itself on an event or a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2576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2576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5 · Autonomous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2576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Plans and acts, with approvals</a:t>
            </a:r>
          </a:p>
        </p:txBody>
      </p:sp>
      <p:pic>
        <p:nvPicPr>
          <p:cNvPr id="18" name="Picture 17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What still holds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Mask → Ask →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Every input and every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699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1699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Tests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1699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Questions with known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6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Request vs. 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6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Instructions ask; permissions enforce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313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4313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Draft, not 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313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People approve what leaves the agent</a:t>
            </a:r>
          </a:p>
        </p:txBody>
      </p:sp>
      <p:pic>
        <p:nvPicPr>
          <p:cNvPr id="15" name="Picture 1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What's new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No one is watching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The agent runs when nobody is at the keyboard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699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1699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Untrusted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1699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Whoever sends the email writes part of the 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6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Real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6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It can post, write, and send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4313" y="1737360"/>
            <a:ext cx="2416987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4313" y="1938528"/>
            <a:ext cx="241698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Real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313" y="2651760"/>
            <a:ext cx="241698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Every run uses capacity</a:t>
            </a:r>
          </a:p>
        </p:txBody>
      </p:sp>
      <p:pic>
        <p:nvPicPr>
          <p:cNvPr id="15" name="Picture 1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8:30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From Agent Builder to Copilot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75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Two builders, one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Agent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In Copilot Chat. A person starts every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Copilot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Triggers, tools, connected agents, channels,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Rules-based flows; Copilot Studio uses the same connectors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 tour of Copilot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Overview: instructions and description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Knowledge · Tools · Agents · Topics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Triggers on the Overview page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Test pane and the activity map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Publish and channels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Build 1 · SOP Navigator in Copilot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Same instructions as Day 2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Knowledge: the sandbox SOP library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Test pane: watch which source it used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Tools: how an agent 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 tool is a connector action the agent may call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Its name and description tell the agent when to use it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Every tool you add is something it can do without asking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35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Rebuild, retest,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Port the Navigator; rerun the Day 2 tests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Publish it, and allow other agents to connect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Did any Day 2 test give a different answer here?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What did the activity map show you that the chat didn't?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10:00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Event-Triggered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105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Anatomy of a trigger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A new email, a new file, a new list item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3438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3438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3438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Only when… (subject, folder, sender)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6484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6484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6484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The event's content plus your instructions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09530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9530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9530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What the agent does with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2576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2576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Human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2576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Who approves before anything leaves</a:t>
            </a:r>
          </a:p>
        </p:txBody>
      </p:sp>
      <p:pic>
        <p:nvPicPr>
          <p:cNvPr id="18" name="Picture 17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Agent instructions vs. payload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Agent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Who it is and how it always behaves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Payload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What to do with this one 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Never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Let them conflict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email is not your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The sender writes part of what the agent reads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Treat the body as data to classify, never as orders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Say so in the instructions, then test it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Build 2 · Work Order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Trigger: a new email with [WO-TRAIN] in the subject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Knowledge: FM-SOP-03 and FM-SOP-07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Tool: post a triage card to Teams; no send-email tool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Send the inbox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Send yourself the eight sample emails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Check each triage card against the key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three hard emails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#4 Override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Hidden orders in the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#5 Health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An injury in the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#6 Duplicate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The agent can't remember #1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Which email did your agent get wrong first?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Was the fix a request or a lock?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What would have happened with a send-email tool?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12:30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Scheduled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60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Two ways to run on a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Scheduled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In Copilot Chat. Personal, no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3007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Recurrence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In Copilot Studio. Shared, can use tools</a:t>
            </a:r>
          </a:p>
        </p:txBody>
      </p:sp>
      <p:pic>
        <p:nvPicPr>
          <p:cNvPr id="9" name="Picture 8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Let the flow count; let the agent 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Totals and dates come from data, not from the model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The agent explains, summarizes, and flags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Every number in the briefing gets checked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Build 3 · Monday Backlog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Recurrence trigger · Excel tool · Teams post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Test every 5 minutes; then Monday 7:00; then off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25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Check the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Open, overdue, and the repeat failure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Against the answer key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Which number was wrong, if any?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Who reads this every Monday, and what do they do with it?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How would you know if it silently stopped?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1:30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Multi-Agent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Hands-on · 75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Why more than one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Each agent does one job well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880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880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Reuse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880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One SOP agent serves many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7212" y="1737360"/>
            <a:ext cx="3314090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7212" y="1938528"/>
            <a:ext cx="33140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7212" y="2651760"/>
            <a:ext cx="331409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Different teams own different agents</a:t>
            </a:r>
          </a:p>
        </p:txBody>
      </p:sp>
      <p:pic>
        <p:nvPicPr>
          <p:cNvPr id="12" name="Picture 11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Child or connected?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Child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Lives inside the main agent. One owner, not reused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3007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Connected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Its own published agent. Own owner, reused by others</a:t>
            </a:r>
          </a:p>
        </p:txBody>
      </p:sp>
      <p:pic>
        <p:nvPicPr>
          <p:cNvPr id="9" name="Picture 8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cost of a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Every hand-off adds time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Every agent is another thing to test and govern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An error in one agent flows into the next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092707" cy="347472"/>
          </a:xfrm>
          <a:prstGeom prst="roundRect">
            <a:avLst/>
          </a:prstGeom>
          <a:solidFill>
            <a:srgbClr val="05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Build 4 · Facilities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Orchestrator: routes the question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Connected: your SOP Navigator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Children: Priority Advisor, Notice Drafter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Routing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Six questions, the expected agent for each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Fix descriptions, not just instructions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One agent or many?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Four TIYA scenarios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Single, child, connected, or not an agent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3:00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Operating Autonomous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45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Five new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Input carries 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3438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3438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Credentials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3438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It acts with its maker's connections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6484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6484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Silence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6484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It fails with no one watching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09530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9530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9530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Every run uses 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2576" y="1737360"/>
            <a:ext cx="1878726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2576" y="1938528"/>
            <a:ext cx="187872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1">
                <a:solidFill>
                  <a:srgbClr val="8F713D"/>
                </a:solidFill>
                <a:latin typeface="Roboto Slab"/>
              </a:rPr>
              <a:t>Chains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2576" y="2651760"/>
            <a:ext cx="187872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051E39"/>
                </a:solidFill>
                <a:latin typeface="Roboto"/>
              </a:rPr>
              <a:t>One agent's error feeds the next</a:t>
            </a:r>
          </a:p>
        </p:txBody>
      </p:sp>
      <p:pic>
        <p:nvPicPr>
          <p:cNvPr id="18" name="Picture 17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Red-team your intake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Three attack emails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Did it obey the email?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The off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Turn off the trigger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Disable a child or connected agent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Unpublish the agent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Know which one, before you need it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Agent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Owner, trigger, normal, alarm, off switch, re-test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Risk tiers for autonomous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Tier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Triggered, posts only to its owner or team, a person 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1737360"/>
            <a:ext cx="5108295" cy="54864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3007" y="1938528"/>
            <a:ext cx="5108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8F713D"/>
                </a:solidFill>
                <a:latin typeface="Roboto Slab"/>
              </a:rPr>
              <a:t>Tier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651760"/>
            <a:ext cx="5108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55"/>
              </a:spcAft>
            </a:pPr>
            <a:r>
              <a:rPr sz="1900" b="0">
                <a:solidFill>
                  <a:srgbClr val="051E39"/>
                </a:solidFill>
                <a:latin typeface="Roboto"/>
              </a:rPr>
              <a:t>Anything that sends, writes to a system of record, or reaches outside the team</a:t>
            </a:r>
          </a:p>
        </p:txBody>
      </p:sp>
      <p:pic>
        <p:nvPicPr>
          <p:cNvPr id="9" name="Picture 8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1E39"/>
            </a:gs>
            <a:gs pos="100000">
              <a:srgbClr val="003D6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228600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3:45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2743200"/>
            <a:ext cx="1049091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FFFFF"/>
                </a:solidFill>
                <a:latin typeface="Roboto Slab"/>
              </a:rPr>
              <a:t>Closing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4909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" y="640080"/>
            <a:ext cx="1860803" cy="347472"/>
          </a:xfrm>
          <a:prstGeom prst="roundRect">
            <a:avLst/>
          </a:prstGeom>
          <a:solidFill>
            <a:srgbClr val="8F7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"/>
              </a:rPr>
              <a:t>EXERCISE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23444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Knowledge check and exit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28600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Eight questions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Show an instructor every trigger turned off</a:t>
            </a:r>
          </a:p>
        </p:txBody>
      </p:sp>
      <p:pic>
        <p:nvPicPr>
          <p:cNvPr id="5" name="Picture 4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685800"/>
            <a:ext cx="1049091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051E39"/>
                </a:solidFill>
                <a:latin typeface="Roboto Slab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1737360"/>
            <a:ext cx="10490911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One trigger you'd propose at TIYA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Its runbook, on one page</a:t>
            </a:r>
          </a:p>
          <a:p>
            <a:pPr>
              <a:spcAft>
                <a:spcPts val="990"/>
              </a:spcAft>
            </a:pPr>
            <a:r>
              <a:rPr sz="2200" b="0">
                <a:solidFill>
                  <a:srgbClr val="B39051"/>
                </a:solidFill>
                <a:latin typeface="Roboto"/>
              </a:rPr>
              <a:t>•  </a:t>
            </a:r>
            <a:r>
              <a:rPr sz="2200" b="0">
                <a:solidFill>
                  <a:srgbClr val="051E39"/>
                </a:solidFill>
                <a:latin typeface="Roboto"/>
              </a:rPr>
              <a:t>The person who would approve it</a:t>
            </a:r>
          </a:p>
        </p:txBody>
      </p:sp>
      <p:pic>
        <p:nvPicPr>
          <p:cNvPr id="4" name="Picture 3" descr="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6355080"/>
            <a:ext cx="1437151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7752" y="6355080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9703" y="6355080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95"/>
              </a:spcAft>
            </a:pPr>
            <a:r>
              <a:rPr sz="1100" b="0">
                <a:solidFill>
                  <a:srgbClr val="3A4A5C"/>
                </a:solidFill>
                <a:latin typeface="Roboto Mono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E3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48640"/>
            <a:ext cx="2822975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0392" y="1691640"/>
            <a:ext cx="104909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75"/>
              </a:spcAft>
            </a:pPr>
            <a:r>
              <a:rPr sz="1500" b="0">
                <a:solidFill>
                  <a:srgbClr val="DEBD88"/>
                </a:solidFill>
                <a:latin typeface="Roboto"/>
              </a:rPr>
              <a:t>APPLIED AI AT TIYA SERVICES · DAY 3 · ADVANCED AGENTS WITH COPILOT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148840"/>
            <a:ext cx="10490911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430"/>
              </a:spcAft>
            </a:pPr>
            <a:r>
              <a:rPr sz="5400" b="1">
                <a:solidFill>
                  <a:srgbClr val="FFFFFF"/>
                </a:solidFill>
                <a:latin typeface="Roboto Slab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4572000"/>
            <a:ext cx="1049091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Evaluation form · certificates at the door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D4D9DF"/>
                </a:solidFill>
                <a:latin typeface="Roboto"/>
              </a:rPr>
              <a:t>Questions after today: [TIYA contact]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B39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