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Escalate anyone who can't,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here took Day 1 in June. Show of hands: who has used Copilot at work since? Take one or two examples; they're good first agent ideas for the design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Ask what's stuck with people since June before showing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exercise today still follows these steps. New for agents: an agent's knowledge must be safe for everyone it's shared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check, tables vote: a vendor's quote (red), a technician's name (amber), how to build a table in Word (green). Placeholder rules until replaced with TIYA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builder is rung 3. Each rung up needs more design, testing, and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 what TIYA is licensed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one is for awareness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debate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tenant's exact labels during prep.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min. Watch for the B-410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Copilot Studio or Power Automate.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if available; otherwise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Models change under you; re-test periodically.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E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548640"/>
            <a:ext cx="2822975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" y="169164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148840"/>
            <a:ext cx="1049091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Roboto Slab"/>
              </a:rPr>
              <a:t>Agentic AI with Microsoft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4572000"/>
            <a:ext cx="10490911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Wednesday, October 21, 2026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Alex Djalali · Alex Rhodeen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8:30 Login check and a Day 1 review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8:50 Agentic AI foundations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10:30 Building real agents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1:15 Triggers, publishing, your own agent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3:15 Governance &amp; security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 / 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996696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Login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Open Copilot Chat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Find the option to create an agent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 / 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8:40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Day 1 in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Back from June · 10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What Day 1 was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Generative AI predicts likely words; it doesn't know TIYA's facts unless you give them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It sounds just as confident when it's wrong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Draft, not decide: it drafts and summarizes; people decide, approve, and sign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If you send it, you own it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5 / 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habit: Mask → Ask →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1 · Mask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Names → roles, numbers → placeholders, prices and health details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2 ·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Goal, Context, Source, Expectations (GCSE)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3 ·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Facts match the source, nothing added. Would I sign this?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6 / 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data traffic light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B3261E"/>
                </a:solidFill>
                <a:latin typeface="Roboto Slab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Never enter. CUI, PHI, pricing, IDs, security details, passwords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9A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9A5B00"/>
                </a:solidFill>
                <a:latin typeface="Roboto Slab"/>
              </a:rPr>
              <a:t>Amber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Mask first. Names, contacts, vendors, contract numbers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066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066034"/>
                </a:solidFill>
                <a:latin typeface="Roboto Slab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Okay. How-to, public information, masked writing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7 / 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8:30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Agentic AI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105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From chat to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Standing instructions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Its own knowledge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Tools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For one defined job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9 / 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autonomy ladder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1 ·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You ask; it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003438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03438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2 · Saved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03438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You reuse what works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5156484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56484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3 ·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6484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Instructions, knowledge, tools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09530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09530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4 · Triggered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530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Starts itself on an event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62576" y="1737360"/>
            <a:ext cx="1878726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62576" y="1938528"/>
            <a:ext cx="187872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1">
                <a:solidFill>
                  <a:srgbClr val="8F713D"/>
                </a:solidFill>
                <a:latin typeface="Roboto Slab"/>
              </a:rPr>
              <a:t>5 · Autonomous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2576" y="2651760"/>
            <a:ext cx="1878726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051E39"/>
                </a:solidFill>
                <a:latin typeface="Roboto"/>
              </a:rPr>
              <a:t>Plans and acts, with approvals</a:t>
            </a:r>
          </a:p>
        </p:txBody>
      </p:sp>
      <p:pic>
        <p:nvPicPr>
          <p:cNvPr id="18" name="Picture 17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10 / 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Anatomy of an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Purpose · Instructions · Knowledge · Tools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Memory · Triggers · Guardrails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11 / 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What agent builder supports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Purpose, instructions,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Some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Tools: code interpreter, image generation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Limited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Memory: the current conversation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Triggers: a person starts it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12 / 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Microsoft ecosystem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Agent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In Copilot Chat. No-code, on-demand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Copilot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Triggers, connectors, autonomous agents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Power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Rules-based flows and triggers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13 / 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Four architectures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Knowledge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Answers from defined documents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Task 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Walks a person through a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Multi-tool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Knowledge plus tools and files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Orchestrated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Agents handing off to agents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14 / 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Agent or not?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Ten TIYA tasks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Prompt, agent, triggered, or not AI?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15 / 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Debrief: the hard 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#4 Choosing a vendor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#9 Flagging emergencies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16 / 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25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Agent design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Design one agent for your own work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You'll build it this afternoon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17 / 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10:30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Building Real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Hands-on · 105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prompt that never 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Instructions run in every conversation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Every weakness shows up for everyone you share with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19 / 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Instructions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Role and purpose · audience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Knowledge rules · steps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Output format · boundaries · tone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20 / 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Tests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Five questions with known answers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One it shouldn't know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One it should refuse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21 / 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Build 1 · SOP Navigator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Configure view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Name, description, instructions, knowledge, starter prompts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22 / 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20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Test, fix, rerun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Run the five tests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Fix the instructions for each failure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23 / 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Build 2 · Work Order 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Knowledge: FM-SOP-03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Code interpreter on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Upload the CSV in chat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24 / 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Check the numbers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Rows, open count, repeat failure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Open the CSV in Excel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25 / 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Which test failed first?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Would you put its chart in a report to the COR?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26 / 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1:15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Building Real Agents,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Hands-on · 105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Event triggers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Trigger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 new email, file, form, or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41699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41699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Condition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1699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Only when…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6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6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6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What the agent does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4313" y="1737360"/>
            <a:ext cx="2416987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24313" y="1938528"/>
            <a:ext cx="241698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Human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4313" y="2651760"/>
            <a:ext cx="2416987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Who approves</a:t>
            </a:r>
          </a:p>
        </p:txBody>
      </p:sp>
      <p:pic>
        <p:nvPicPr>
          <p:cNvPr id="15" name="Picture 1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28 / 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092707" cy="347472"/>
          </a:xfrm>
          <a:prstGeom prst="roundRect">
            <a:avLst/>
          </a:prstGeom>
          <a:solidFill>
            <a:srgbClr val="051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triggered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New email → summary → Teams post for approval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29 / 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764792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Trigger storyboard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Design a trigger for your canvas agent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30 / 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Memory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Conversation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What's in this 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Knowledge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What it can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Long-term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Assume none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31 / 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Publishing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Users see only what they can already open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Sharing an agent doesn't share its sources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Named people first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32 / 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Name and describe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TIYA · [Team] · [Job]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What it does, what it doesn't, who owns it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33 / 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30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Build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Tests first, then build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Pass your own tests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34 / 45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Swap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Your partner runs your tests plus two of theirs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Fix and reshare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35 / 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Four or five volunteers, 2 minutes each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36 / 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51E39"/>
            </a:gs>
            <a:gs pos="100000">
              <a:srgbClr val="003D69"/>
            </a:gs>
          </a:gsLst>
          <a:lin scaled="0" ang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228600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3:15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2743200"/>
            <a:ext cx="10490911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FFFFF"/>
                </a:solidFill>
                <a:latin typeface="Roboto Slab"/>
              </a:rPr>
              <a:t>Governance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4297680"/>
            <a:ext cx="104909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75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A request vs. a 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5108295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5108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Request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5108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Instructions. A clever question can get around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007" y="1737360"/>
            <a:ext cx="5108295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33007" y="1938528"/>
            <a:ext cx="51082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Lock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2651760"/>
            <a:ext cx="5108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Permissions. What it can't read, it can't leak.</a:t>
            </a:r>
          </a:p>
        </p:txBody>
      </p:sp>
      <p:pic>
        <p:nvPicPr>
          <p:cNvPr id="9" name="Picture 8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38 / 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Never as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Personnel, medical, pricing, CUI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Security details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Folders with unchecked permissions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39 / 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Red-team swap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Off-topic · personal data · override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Made-up facts · decide for me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40 / 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Risk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5039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1 · 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Only you; green knowledge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880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880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2 ·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880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Shared with your team; a person acts on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7212" y="1737360"/>
            <a:ext cx="3314090" cy="54864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27212" y="1938528"/>
            <a:ext cx="331409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8F713D"/>
                </a:solidFill>
                <a:latin typeface="Roboto Slab"/>
              </a:rPr>
              <a:t>3 · Higher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7212" y="2651760"/>
            <a:ext cx="331409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55"/>
              </a:spcAft>
            </a:pPr>
            <a:r>
              <a:rPr sz="1900" b="0">
                <a:solidFill>
                  <a:srgbClr val="051E39"/>
                </a:solidFill>
                <a:latin typeface="Roboto"/>
              </a:rPr>
              <a:t>Beyond your team, external communication, decisions, or amber data</a:t>
            </a:r>
          </a:p>
        </p:txBody>
      </p:sp>
      <p:pic>
        <p:nvPicPr>
          <p:cNvPr id="12" name="Picture 11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41 / 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0392" y="68580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The agent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73736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Propose → Build → Test → Review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Share → Monitor → Re-test → Retire</a:t>
            </a:r>
          </a:p>
        </p:txBody>
      </p:sp>
      <p:pic>
        <p:nvPicPr>
          <p:cNvPr id="4" name="Picture 3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42 / 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15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Governance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Owner, tier, sources, sharing, re-test, retire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43 / 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50392" y="640080"/>
            <a:ext cx="1860803" cy="347472"/>
          </a:xfrm>
          <a:prstGeom prst="roundRect">
            <a:avLst/>
          </a:prstGeom>
          <a:solidFill>
            <a:srgbClr val="8F7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"/>
              </a:rPr>
              <a:t>EXERCISE · 10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" y="1234440"/>
            <a:ext cx="104909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051E39"/>
                </a:solidFill>
                <a:latin typeface="Roboto Slab"/>
              </a:rPr>
              <a:t>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286000"/>
            <a:ext cx="1049091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Knowledge check and exit checklist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B39051"/>
                </a:solidFill>
                <a:latin typeface="Roboto"/>
              </a:rPr>
              <a:t>•  </a:t>
            </a:r>
            <a:r>
              <a:rPr sz="2200" b="0">
                <a:solidFill>
                  <a:srgbClr val="051E39"/>
                </a:solidFill>
                <a:latin typeface="Roboto"/>
              </a:rPr>
              <a:t>Evaluation and certificates</a:t>
            </a:r>
          </a:p>
        </p:txBody>
      </p:sp>
      <p:pic>
        <p:nvPicPr>
          <p:cNvPr id="5" name="Picture 4" descr="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6355080"/>
            <a:ext cx="1437151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87752" y="6355080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9703" y="63550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1100" b="0">
                <a:solidFill>
                  <a:srgbClr val="3A4A5C"/>
                </a:solidFill>
                <a:latin typeface="Roboto Mono"/>
              </a:rPr>
              <a:t>44 / 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E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548640"/>
            <a:ext cx="2822975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" y="1691640"/>
            <a:ext cx="104909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75"/>
              </a:spcAft>
            </a:pPr>
            <a:r>
              <a:rPr sz="1500" b="0">
                <a:solidFill>
                  <a:srgbClr val="DEBD88"/>
                </a:solidFill>
                <a:latin typeface="Roboto"/>
              </a:rPr>
              <a:t>APPLIED AI AT TIYA SERVICES · DAY 2 · AGENTIC AI WITH MICROSOFT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148840"/>
            <a:ext cx="10490911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430"/>
              </a:spcAft>
            </a:pPr>
            <a:r>
              <a:rPr sz="5400" b="1">
                <a:solidFill>
                  <a:srgbClr val="FFFFFF"/>
                </a:solidFill>
                <a:latin typeface="Roboto Slab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4572000"/>
            <a:ext cx="10490911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Certificates at the door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D4D9DF"/>
                </a:solidFill>
                <a:latin typeface="Roboto"/>
              </a:rPr>
              <a:t>Questions after today: [TIYA contact]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390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